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097280"/>
            <a:ext cx="3657600" cy="36576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EVACYCLE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EVACYCLE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4688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C55E"/>
                </a:solidFill>
              </a:rPr>
              <a:t>폐차 순환 관리 플랫폼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3108960"/>
            <a:ext cx="5486400" cy="36576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3291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EV 폐차 부품 · 이력관리 · 그레이딩 · 정산 통합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840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v1.0 MVP  ·  2026년 3월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CONFIDENTIAL  ·  C-Level Demo  ·  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</a:rPr>
              <a:t>현행 폐차 프로세스의 구조적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EVACYCLE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2103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</a:rPr>
              <a:t>📋  추적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폐차 부품의 이동 경로 추적 불가
종이 기반 체크리스트로 분실·변조 위험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94960" cy="2103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</a:rPr>
              <a:t>💸  정산 불투명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수기 계산 + 이메일 협의로 정산 지연
정산 근거 데이터 없음 → 분쟁 빈번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394960" cy="2103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</a:rPr>
              <a:t>📁  문서 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계약서·사진·인수증이 각기 다른 시스템
감사 추적 불가, 규제 대응 어려움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566160"/>
            <a:ext cx="5394960" cy="2103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</a:rPr>
              <a:t>⏱  처리 지연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역할 간 인계 프로세스 수동화
허브 입고부터 정산까지 평균 14일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CONFIDENTIAL  ·  C-Level Demo  ·  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EVACYCLE 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</a:rPr>
              <a:t>역할별 디지털 플로우 + 블록체인 기반 이력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EVACYCLE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2286000" cy="2286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폐차장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케이스 등록
CoC 서명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097280"/>
            <a:ext cx="2286000" cy="2286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280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허브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입고 확인
그레이딩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097280"/>
            <a:ext cx="2286000" cy="2286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🏷️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마켓플레이스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Lot 등록
구매 매칭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1097280"/>
            <a:ext cx="2286000" cy="2286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1280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정산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M0 + Delta
자동 계산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39"/>
            <a:ext cx="11247120" cy="1371600"/>
          </a:xfrm>
          <a:prstGeom prst="rect">
            <a:avLst/>
          </a:prstGeom>
          <a:solidFill>
            <a:srgbClr val="0A2A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🔗  블록체인 기반 이력 추적 (EventLedger 해시 체인)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51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모든 이벤트(등록·CoC·입고·그레이딩·판매·정산)를 SHA-256 해시 체인으로 연결  ·  위변조 즉시 감지  ·  감사 추적 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404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44개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API 엔드포인트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8404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6개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역할 기반 접근제어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38404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이벤트 감사 추적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CONFIDENTIAL  ·  C-Level Demo  ·  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</a:rPr>
              <a:t>역할별 접근제어 + 검증된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EVACYCLE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역할 구조 (RBAC)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029200" cy="5486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36192"/>
            <a:ext cx="164592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플랫폼 운영·정산 승인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5029200" cy="5486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194560"/>
            <a:ext cx="164592" cy="4023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12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JUNKYARD /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2311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케이스 등록·CoC 서명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79776"/>
            <a:ext cx="5029200" cy="5486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852928"/>
            <a:ext cx="164592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712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INTAKE_JUNKYARD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8895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입고 폐차장 처리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38144"/>
            <a:ext cx="5029200" cy="5486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511296"/>
            <a:ext cx="164592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295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547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입고 확인·그레이딩·Lot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96512"/>
            <a:ext cx="5029200" cy="5486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169664"/>
            <a:ext cx="164592" cy="40233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87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BUYER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마켓플레이스 구매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005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기술 스택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463040"/>
            <a:ext cx="5943600" cy="50292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5361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15361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Next.js 14 · TypeScript · Tailwind CSS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029968"/>
            <a:ext cx="5943600" cy="50292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103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NestJS 10 · TypeScript · REST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596896"/>
            <a:ext cx="5943600" cy="50292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26700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26700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PostgreSQL 16 · Prisma ORM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3163824"/>
            <a:ext cx="5943600" cy="50292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32369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Cache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323697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Redis 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730752"/>
            <a:ext cx="5943600" cy="50292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380390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380390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MinIO (S3 호환)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4297680"/>
            <a:ext cx="5943600" cy="50292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43708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Auth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3708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OTP(이메일) + JWT (15m/7d)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4864608"/>
            <a:ext cx="5943600" cy="50292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4937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Testing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4937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Jest · Supertest · k6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5431536"/>
            <a:ext cx="5943600" cy="50292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55046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CI/CD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550468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GitHub Actions → Docker Compose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CONFIDENTIAL  ·  C-Level Demo  ·  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핵심 플로우 (데모 순서)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</a:rPr>
              <a:t>DRAFT → SUBMITTED → IN_TRANSIT → RECEIVED → GRADING → ON_SALE → SOLD → SETTLED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EVACYCLE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3657600" cy="2286000"/>
          </a:xfrm>
          <a:prstGeom prst="rect">
            <a:avLst/>
          </a:prstGeom>
          <a:solidFill>
            <a:srgbClr val="142230"/>
          </a:solidFill>
          <a:ln w="1905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71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07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</a:rPr>
              <a:t>폐차장 로그인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383280" cy="2743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OTP 인증
케이스 등록 (차량정보·VIN)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657600" cy="2286000"/>
          </a:xfrm>
          <a:prstGeom prst="rect">
            <a:avLst/>
          </a:prstGeom>
          <a:solidFill>
            <a:srgbClr val="1422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80160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271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307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CoC 서명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828800"/>
            <a:ext cx="338328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Chain-of-Custody 디지털 서명
허브 이동 시작 → IN_TRANSIT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143000"/>
            <a:ext cx="3657600" cy="2286000"/>
          </a:xfrm>
          <a:prstGeom prst="rect">
            <a:avLst/>
          </a:prstGeom>
          <a:solidFill>
            <a:srgbClr val="1422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280160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2710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307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허브 입고·그레이딩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828800"/>
            <a:ext cx="338328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입고 확인 → RECEIVED
배터리 Grade A 판정 → DerivedLot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657600"/>
            <a:ext cx="3657600" cy="2286000"/>
          </a:xfrm>
          <a:prstGeom prst="rect">
            <a:avLst/>
          </a:prstGeom>
          <a:solidFill>
            <a:srgbClr val="1422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8561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82219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마켓플레이스 등록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43400"/>
            <a:ext cx="33832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Lot → Listing 등록 (고정가 ₩1,500,000)
바이어 카탈로그 노출 → ON_SALE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657600"/>
            <a:ext cx="3657600" cy="2286000"/>
          </a:xfrm>
          <a:prstGeom prst="rect">
            <a:avLst/>
          </a:prstGeom>
          <a:solidFill>
            <a:srgbClr val="1422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3794760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78561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82219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바이어 구매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4343400"/>
            <a:ext cx="33832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4348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마켓플레이스 구매 완료 → SOLD
Delta 정산 자동 생성 (₩225,000)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3657600"/>
            <a:ext cx="3657600" cy="2286000"/>
          </a:xfrm>
          <a:prstGeom prst="rect">
            <a:avLst/>
          </a:prstGeom>
          <a:solidFill>
            <a:srgbClr val="1422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379476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78561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82219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관리자 정산 승인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343400"/>
            <a:ext cx="338328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44348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M0 + Delta 일괄 승인 → PAID
케이스 자동 SETTLED 전이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CONFIDENTIAL  ·  C-Level Demo  ·  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데모 계정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</a:rPr>
              <a:t>* OTP는 API 서버 콘솔 로그에서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EVACYCLE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64592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064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051560"/>
            <a:ext cx="320040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1064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이메일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051560"/>
            <a:ext cx="320040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11064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접속 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051560"/>
            <a:ext cx="365760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1064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주요 기능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08760"/>
            <a:ext cx="1645920" cy="56692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🛡️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1508760"/>
            <a:ext cx="3200400" cy="56692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admin@evacycle.com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508760"/>
            <a:ext cx="3200400" cy="56692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localhost:3001/admin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1508760"/>
            <a:ext cx="3657600" cy="56692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1600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대시보드·정산승인·조직관리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48839"/>
            <a:ext cx="1645920" cy="566928"/>
          </a:xfrm>
          <a:prstGeom prst="rect">
            <a:avLst/>
          </a:prstGeom>
          <a:solidFill>
            <a:srgbClr val="16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24027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🏭 JUNKYARD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2148839"/>
            <a:ext cx="3200400" cy="566928"/>
          </a:xfrm>
          <a:prstGeom prst="rect">
            <a:avLst/>
          </a:prstGeom>
          <a:solidFill>
            <a:srgbClr val="16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22402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junkyard@evacycle.com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148839"/>
            <a:ext cx="3200400" cy="566928"/>
          </a:xfrm>
          <a:prstGeom prst="rect">
            <a:avLst/>
          </a:prstGeom>
          <a:solidFill>
            <a:srgbClr val="16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59" y="22402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localhost:3001/cases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2148839"/>
            <a:ext cx="3657600" cy="566928"/>
          </a:xfrm>
          <a:prstGeom prst="rect">
            <a:avLst/>
          </a:prstGeom>
          <a:solidFill>
            <a:srgbClr val="16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22402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케이스 등록·CoC 서명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788920"/>
            <a:ext cx="1645920" cy="56692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803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🏢 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57400" y="2788920"/>
            <a:ext cx="3200400" cy="56692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2880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hub@evacycle.com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2788920"/>
            <a:ext cx="3200400" cy="56692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59" y="2880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localhost:3001/lots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2788920"/>
            <a:ext cx="3657600" cy="56692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입고확인·그레이딩·Lot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428999"/>
            <a:ext cx="1645920" cy="566928"/>
          </a:xfrm>
          <a:prstGeom prst="rect">
            <a:avLst/>
          </a:prstGeom>
          <a:solidFill>
            <a:srgbClr val="16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2043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🛒 BUYER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3428999"/>
            <a:ext cx="3200400" cy="566928"/>
          </a:xfrm>
          <a:prstGeom prst="rect">
            <a:avLst/>
          </a:prstGeom>
          <a:solidFill>
            <a:srgbClr val="16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40" y="3520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buyer@evacycle.com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3428999"/>
            <a:ext cx="3200400" cy="566928"/>
          </a:xfrm>
          <a:prstGeom prst="rect">
            <a:avLst/>
          </a:prstGeom>
          <a:solidFill>
            <a:srgbClr val="16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59" y="3520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localhost:3001/marketplace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3428999"/>
            <a:ext cx="3657600" cy="566928"/>
          </a:xfrm>
          <a:prstGeom prst="rect">
            <a:avLst/>
          </a:prstGeom>
          <a:solidFill>
            <a:srgbClr val="16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35204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마켓플레이스·구매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160520"/>
            <a:ext cx="11430000" cy="1645920"/>
          </a:xfrm>
          <a:prstGeom prst="rect">
            <a:avLst/>
          </a:prstGeom>
          <a:solidFill>
            <a:srgbClr val="0A2818"/>
          </a:solidFill>
          <a:ln w="127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224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📋  데모 시나리오 (권장 순서)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6634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① 폐차장 로그인 → 케이스 목록 확인 (DRAFT/SUBMITTED/IN_TRANSIT 3건 사전 세팅됨)</a:t>
            </a:r>
          </a:p>
          <a:p>
            <a:pPr algn="l"/>
            <a:r>
              <a:rPr sz="1100" b="0">
                <a:solidFill>
                  <a:srgbClr val="E2E8F0"/>
                </a:solidFill>
              </a:rPr>
              <a:t>② 바이어 로그인 → 마켓플레이스 → LOT 구매 (₩1,500,000)</a:t>
            </a:r>
          </a:p>
          <a:p>
            <a:pPr algn="l"/>
            <a:r>
              <a:rPr sz="1100" b="0">
                <a:solidFill>
                  <a:srgbClr val="E2E8F0"/>
                </a:solidFill>
              </a:rPr>
              <a:t>③ 관리자 로그인 → 대시보드 → 정산 일괄 승인 → SETTLED 전이 확인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CONFIDENTIAL  ·  C-Level Demo  ·  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</a:rPr>
              <a:t>백엔드 MVP 완료 → 프론트엔드 → AWS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EVACYCLE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0789920" cy="54864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48840" y="3090672"/>
            <a:ext cx="64008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30906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C55E"/>
                </a:solidFill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</a:rPr>
              <a:t>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2026.03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3886200"/>
            <a:ext cx="3017520" cy="2286000"/>
          </a:xfrm>
          <a:prstGeom prst="rect">
            <a:avLst/>
          </a:prstGeom>
          <a:solidFill>
            <a:srgbClr val="1422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54480" y="3931920"/>
            <a:ext cx="82296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DONE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159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백엔드 MVP
완료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463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NestJS API 44개
Flow A E2E 검증
Vera QA 통과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59" y="3090672"/>
            <a:ext cx="640080" cy="640080"/>
          </a:xfrm>
          <a:prstGeom prst="rect">
            <a:avLst/>
          </a:prstGeom>
          <a:solidFill>
            <a:srgbClr val="1A28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59" y="30906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59E0B"/>
                </a:solidFill>
              </a:rP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v1.4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2026.04.01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59" y="3886200"/>
            <a:ext cx="3017520" cy="2286000"/>
          </a:xfrm>
          <a:prstGeom prst="rect">
            <a:avLst/>
          </a:prstGeom>
          <a:solidFill>
            <a:srgbClr val="1422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43159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프론트엔드
완료 예정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8463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Next.js 웹앱
시안 A/B 역할별
분리 적용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3090672"/>
            <a:ext cx="640080" cy="640080"/>
          </a:xfrm>
          <a:prstGeom prst="rect">
            <a:avLst/>
          </a:prstGeom>
          <a:solidFill>
            <a:srgbClr val="1A2838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30906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6B6D4"/>
                </a:solidFill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2026.Q2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3886200"/>
            <a:ext cx="3017520" cy="2286000"/>
          </a:xfrm>
          <a:prstGeom prst="rect">
            <a:avLst/>
          </a:prstGeom>
          <a:solidFill>
            <a:srgbClr val="1422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9" y="43159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AWS 배포
예정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48463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ECS Fargate
RDS + ElastiCache
CI/CD 파이프라인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807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💡  프론트엔드 설계 완료 (시안 A·B 역할 분리)  ·  Finn 구현 착수 예정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CONFIDENTIAL  ·  C-Level Demo  · 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